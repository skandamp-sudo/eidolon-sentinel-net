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800" b="1"/>
            </a:pPr>
            <a:r>
              <a:t>EIDOLON // SENTINEL-NET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400" b="1"/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/>
            </a:pPr>
            <a:r>
              <a:t>Problem Statement ID: SIH26145</a:t>
            </a:r>
            <a:br/>
            <a:r>
              <a:t>Problem Statement Title: AI-Based Detection of Cyber Threats in Unidirectional IP Traffic</a:t>
            </a:r>
            <a:br/>
            <a:r>
              <a:t>Theme: Software / Blockchain &amp; Cybersecurity</a:t>
            </a:r>
            <a:br/>
            <a:r>
              <a:t>PS Category: Software</a:t>
            </a:r>
            <a:br/>
            <a:r>
              <a:t>Organization: NTRO</a:t>
            </a:r>
            <a:br/>
            <a:r>
              <a:t>Team Name: EIDOLON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6400800" cy="41148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 wrap="squar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sz="1600"/>
            </a:pPr>
            <a:r>
              <a:t>Modern threat detection often assumes bidirectional network visibility.</a:t>
            </a:r>
            <a:br/>
            <a:br/>
            <a:r>
              <a:t>But SIH26145 imposes a fundamentally different constraint:</a:t>
            </a:r>
            <a:br/>
            <a:br/>
            <a:r>
              <a:t>• Traffic can be observed only in one direction.</a:t>
            </a:r>
            <a:br/>
            <a:r>
              <a:t>• No return-path dependency.</a:t>
            </a:r>
            <a:br/>
            <a:r>
              <a:t>• No active probes or scanning.</a:t>
            </a:r>
            <a:br/>
            <a:r>
              <a:t>• No mitigation commands can be sent back.</a:t>
            </a:r>
            <a:br/>
            <a:r>
              <a:t>• Detection must rely entirely on passively observable packet/flow metadata.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3200" b="1"/>
            </a:pPr>
            <a:r>
              <a:t>THE PROBLEM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6400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600" b="1"/>
            </a:pPr>
            <a:r>
              <a:t>Modern threat detection often assumes bidirectional network visibility.</a:t>
            </a:r>
            <a:br/>
            <a:br/>
            <a:r>
              <a:t>But SIH26145 imposes a fundamentally different constraint:</a:t>
            </a:r>
            <a:br/>
            <a:br/>
            <a:r>
              <a:t>• Traffic can be observed only in one direction.</a:t>
            </a:r>
            <a:br/>
            <a:r>
              <a:t>• No return-path dependency.</a:t>
            </a:r>
            <a:br/>
            <a:r>
              <a:t>• No active probes or scanning.</a:t>
            </a:r>
            <a:br/>
            <a:r>
              <a:t>• No mitigation commands can be sent back.</a:t>
            </a:r>
            <a:br/>
            <a:r>
              <a:t>• Detection must rely entirely on passively observable packet/flow metadata.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3200" b="1"/>
            </a:pPr>
            <a:r>
              <a:t>THE PROBLEM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457200" y="5486400"/>
            <a:ext cx="64008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0C0"/>
                </a:solidFill>
              </a:defRPr>
            </a:pPr>
            <a:r>
              <a:t>“HOW DO WE DETECT CYBER THREATS WHEN WE CAN ONLY OBSERVE?”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7772400" y="1645920"/>
            <a:ext cx="3200400" cy="548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OBSERVABLE NETWORK</a:t>
            </a:r>
          </a:p>
        </p:txBody>
      </p:sp>
      <p:sp>
        <p:nvSpPr>
          <p:cNvPr id="15365" name="Down Arrow 15364"/>
          <p:cNvSpPr/>
          <p:nvPr/>
        </p:nvSpPr>
        <p:spPr>
          <a:xfrm>
            <a:off x="9235440" y="2240280"/>
            <a:ext cx="274320" cy="411480"/>
          </a:xfrm>
          <a:prstGeom prst="down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ectangle 15365"/>
          <p:cNvSpPr/>
          <p:nvPr/>
        </p:nvSpPr>
        <p:spPr>
          <a:xfrm>
            <a:off x="7772400" y="2743200"/>
            <a:ext cx="3200400" cy="548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ONE-WAY IP TRAFFIC</a:t>
            </a:r>
          </a:p>
        </p:txBody>
      </p:sp>
      <p:sp>
        <p:nvSpPr>
          <p:cNvPr id="15367" name="Down Arrow 15366"/>
          <p:cNvSpPr/>
          <p:nvPr/>
        </p:nvSpPr>
        <p:spPr>
          <a:xfrm>
            <a:off x="9235440" y="3337560"/>
            <a:ext cx="274320" cy="411480"/>
          </a:xfrm>
          <a:prstGeom prst="down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ectangle 15367"/>
          <p:cNvSpPr/>
          <p:nvPr/>
        </p:nvSpPr>
        <p:spPr>
          <a:xfrm>
            <a:off x="7772400" y="3840480"/>
            <a:ext cx="3200400" cy="548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EIDOLON SENSOR</a:t>
            </a:r>
          </a:p>
        </p:txBody>
      </p:sp>
      <p:sp>
        <p:nvSpPr>
          <p:cNvPr id="15369" name="Down Arrow 15368"/>
          <p:cNvSpPr/>
          <p:nvPr/>
        </p:nvSpPr>
        <p:spPr>
          <a:xfrm>
            <a:off x="9235440" y="4434840"/>
            <a:ext cx="274320" cy="411480"/>
          </a:xfrm>
          <a:prstGeom prst="downArrow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7772400" y="4937760"/>
            <a:ext cx="3200400" cy="54864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THREAT DETECTION</a:t>
            </a:r>
          </a:p>
        </p:txBody>
      </p:sp>
      <p:sp>
        <p:nvSpPr>
          <p:cNvPr id="15371" name="Up Arrow 15370"/>
          <p:cNvSpPr/>
          <p:nvPr/>
        </p:nvSpPr>
        <p:spPr>
          <a:xfrm>
            <a:off x="8503920" y="2240280"/>
            <a:ext cx="274320" cy="411480"/>
          </a:xfrm>
          <a:prstGeom prst="upArrow">
            <a:avLst/>
          </a:prstGeom>
          <a:solidFill>
            <a:srgbClr val="DCDCD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Multiply 15371"/>
          <p:cNvSpPr/>
          <p:nvPr/>
        </p:nvSpPr>
        <p:spPr>
          <a:xfrm>
            <a:off x="8458200" y="2263140"/>
            <a:ext cx="365760" cy="36576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7498080" y="2194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</a:defRPr>
            </a:pPr>
            <a:r>
              <a:t>No Return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/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600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EIDOLON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7315200" cy="3657600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Traffic/PCAP</a:t>
            </a:r>
          </a:p>
        </p:txBody>
      </p:sp>
      <p:sp>
        <p:nvSpPr>
          <p:cNvPr id="17413" name="Down Arrow 17412"/>
          <p:cNvSpPr/>
          <p:nvPr/>
        </p:nvSpPr>
        <p:spPr>
          <a:xfrm>
            <a:off x="2194560" y="219456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457200" y="233172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Packet Parsing</a:t>
            </a:r>
          </a:p>
        </p:txBody>
      </p:sp>
      <p:sp>
        <p:nvSpPr>
          <p:cNvPr id="17415" name="Down Arrow 17414"/>
          <p:cNvSpPr/>
          <p:nvPr/>
        </p:nvSpPr>
        <p:spPr>
          <a:xfrm>
            <a:off x="2194560" y="2697479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Flow Aggregation</a:t>
            </a:r>
          </a:p>
        </p:txBody>
      </p:sp>
      <p:sp>
        <p:nvSpPr>
          <p:cNvPr id="17417" name="Down Arrow 17416"/>
          <p:cNvSpPr/>
          <p:nvPr/>
        </p:nvSpPr>
        <p:spPr>
          <a:xfrm>
            <a:off x="2194560" y="320040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52 Features</a:t>
            </a:r>
          </a:p>
        </p:txBody>
      </p:sp>
      <p:sp>
        <p:nvSpPr>
          <p:cNvPr id="17419" name="Down Arrow 17418"/>
          <p:cNvSpPr/>
          <p:nvPr/>
        </p:nvSpPr>
        <p:spPr>
          <a:xfrm>
            <a:off x="2194560" y="370332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17421" name="Down Arrow 17420"/>
          <p:cNvSpPr/>
          <p:nvPr/>
        </p:nvSpPr>
        <p:spPr>
          <a:xfrm>
            <a:off x="2194560" y="420624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457200" y="434340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ML Detection</a:t>
            </a:r>
          </a:p>
        </p:txBody>
      </p:sp>
      <p:sp>
        <p:nvSpPr>
          <p:cNvPr id="17423" name="Down Arrow 17422"/>
          <p:cNvSpPr/>
          <p:nvPr/>
        </p:nvSpPr>
        <p:spPr>
          <a:xfrm>
            <a:off x="2194560" y="470916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Evidence/Risk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2194560" y="5212080"/>
            <a:ext cx="182880" cy="1371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457200" y="5349240"/>
            <a:ext cx="3657600" cy="3657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SOC Command Center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AI &amp; FEATURE ENGINEERING:</a:t>
            </a:r>
            <a:br/>
            <a:br/>
            <a:r>
              <a:t>• 52 canonical features (41 usable after preprocessing).</a:t>
            </a:r>
            <a:br/>
            <a:r>
              <a:t>• Models: XGBoost, Random Forest, Logistic Regression, Isolation Forest.</a:t>
            </a:r>
            <a:br/>
            <a:r>
              <a:t>• Simulated unidirectional telemetry constraint (passive/read-only).</a:t>
            </a:r>
            <a:br/>
            <a:r>
              <a:t>• Supervised models detect learned classes; Isolation Forest flags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/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pPr>
            <a:r>
              <a:t>SCIENTIFIC HONESTY &amp; LIMITATIONS:</a:t>
            </a:r>
            <a:br/>
            <a:r>
              <a:t>• Unseen C2 Recall: 0% (@ 1% FPR) and 1.7% (@ 5% FPR).</a:t>
            </a:r>
            <a:br/>
            <a:r>
              <a:t>• Supervised models fail when classes are entirely unseen. We do not claim universal zero-day detection.</a:t>
            </a:r>
            <a:br/>
            <a:r>
              <a:t>• Anomaly detection provides novelty-ranking, but operational FPR remains high.</a:t>
            </a:r>
            <a:br/>
            <a:br/>
            <a:r>
              <a:t>ROBUSTNESS &amp; EXPLAINABILITY:</a:t>
            </a:r>
            <a:br/>
            <a:r>
              <a:t>• System resists timing jitter, packet-size noise, duration scaling, and metadata dropout.</a:t>
            </a:r>
            <a:br/>
            <a:r>
              <a:t>• ATT&amp;CK mapping serves as contextual evidence, not definitive proof of attribution.</a:t>
            </a:r>
            <a:br/>
            <a:r>
              <a:t>• System does NOT claim to be production-ready.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EIDOLON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/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pPr>
            <a:r>
              <a:t>Performance &amp; Generalization Results:</a:t>
            </a:r>
            <a:br/>
            <a:r>
              <a:t>- Supervised: XGBoost macro-F1 (0.2675); Logistic Regression macro-F1 (0.3389).</a:t>
            </a:r>
            <a:br/>
            <a:r>
              <a:t>- Anomaly &amp; Novel Threat Findings: Isolation Forest provides crucial novelty-ranking signal.</a:t>
            </a:r>
            <a:br/>
            <a:r>
              <a:t>- Unseen DDoS: ROC-AUC 0.887, PR-AUC 0.776, Anomaly F1 0.571 (strongest generalization case).</a:t>
            </a:r>
            <a:br/>
            <a:r>
              <a:t>- DoS-Wednesday LOSO F1: 0.806.</a:t>
            </a:r>
            <a:br/>
            <a:br/>
            <a:r>
              <a:t>Target Use-Cases &amp; Impact:</a:t>
            </a:r>
            <a:br/>
            <a:r>
              <a:t>- Critical infrastructure monitoring and air-gapped/segmented environments.</a:t>
            </a:r>
            <a:br/>
            <a:r>
              <a:t>- Empowers SOC analyst workflows through a seamless UI.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EIDOLON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sult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432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200" b="1"/>
            </a:pPr>
            <a:r>
              <a:t>DEMO &amp; RESEARCH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pPr>
            <a:r>
              <a:t>DETERMINISTIC PCAP REPLAY / RECORDED TRAFFIC:</a:t>
            </a:r>
            <a:br/>
            <a:r>
              <a:t>• The demo utilizes recorded traffic through the real ingestion pipeline, NOT live Internet traffic.</a:t>
            </a:r>
            <a:br/>
            <a:r>
              <a:t>• End-to-End: PCAP → Pipeline → Feature Extraction → ML Inference → SQLite → WebSocket → SOC.</a:t>
            </a:r>
            <a:br/>
            <a:br/>
            <a:r>
              <a:t>SCIENTIFIC RIGOR:</a:t>
            </a:r>
            <a:br/>
            <a:r>
              <a:t>• 531 automated tests pass locally.</a:t>
            </a:r>
            <a:br/>
            <a:r>
              <a:t>• Real-data evaluation with explicit known vs. unseen splits.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EIDOLON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al_s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200400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